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olfe, Steve" initials="WS" lastIdx="1" clrIdx="0">
    <p:extLst>
      <p:ext uri="{19B8F6BF-5375-455C-9EA6-DF929625EA0E}">
        <p15:presenceInfo xmlns:p15="http://schemas.microsoft.com/office/powerpoint/2012/main" userId="S::steve.wolfe@kcc.com::e5ad8f8a-93e6-42e8-98b0-c73385c1ce5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2" autoAdjust="0"/>
    <p:restoredTop sz="94660"/>
  </p:normalViewPr>
  <p:slideViewPr>
    <p:cSldViewPr snapToGrid="0">
      <p:cViewPr varScale="1">
        <p:scale>
          <a:sx n="116" d="100"/>
          <a:sy n="116" d="100"/>
        </p:scale>
        <p:origin x="114"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8-13T10:24:37.959" idx="1">
    <p:pos x="3923" y="91"/>
    <p:text/>
    <p:extLst>
      <p:ext uri="{C676402C-5697-4E1C-873F-D02D1690AC5C}">
        <p15:threadingInfo xmlns:p15="http://schemas.microsoft.com/office/powerpoint/2012/main" timeZoneBias="240"/>
      </p:ext>
    </p:extLs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2174889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33274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3939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0448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53417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39347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6954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8440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0753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807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43817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5290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47334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2405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22609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55634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60274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8/13/2021</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9110038"/>
      </p:ext>
    </p:extLst>
  </p:cSld>
  <p:clrMap bg1="dk1" tx1="lt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34519-9C73-4831-9826-A6E9EDD91809}"/>
              </a:ext>
            </a:extLst>
          </p:cNvPr>
          <p:cNvSpPr>
            <a:spLocks noGrp="1"/>
          </p:cNvSpPr>
          <p:nvPr>
            <p:ph type="ctrTitle"/>
          </p:nvPr>
        </p:nvSpPr>
        <p:spPr>
          <a:xfrm>
            <a:off x="1031875" y="1212935"/>
            <a:ext cx="6020177" cy="4432130"/>
          </a:xfrm>
        </p:spPr>
        <p:txBody>
          <a:bodyPr anchor="ctr">
            <a:normAutofit/>
          </a:bodyPr>
          <a:lstStyle/>
          <a:p>
            <a:r>
              <a:rPr lang="en-US" sz="6600"/>
              <a:t>Shutterfly data analysis</a:t>
            </a:r>
          </a:p>
        </p:txBody>
      </p:sp>
      <p:sp>
        <p:nvSpPr>
          <p:cNvPr id="3" name="Subtitle 2">
            <a:extLst>
              <a:ext uri="{FF2B5EF4-FFF2-40B4-BE49-F238E27FC236}">
                <a16:creationId xmlns:a16="http://schemas.microsoft.com/office/drawing/2014/main" id="{BC3679A3-2A24-4AD8-9102-761C9727303C}"/>
              </a:ext>
            </a:extLst>
          </p:cNvPr>
          <p:cNvSpPr>
            <a:spLocks noGrp="1"/>
          </p:cNvSpPr>
          <p:nvPr>
            <p:ph type="subTitle" idx="1"/>
          </p:nvPr>
        </p:nvSpPr>
        <p:spPr>
          <a:xfrm>
            <a:off x="8017261" y="2087881"/>
            <a:ext cx="3142864" cy="2682239"/>
          </a:xfrm>
        </p:spPr>
        <p:txBody>
          <a:bodyPr anchor="ctr">
            <a:normAutofit/>
          </a:bodyPr>
          <a:lstStyle/>
          <a:p>
            <a:pPr algn="l"/>
            <a:r>
              <a:rPr lang="en-US" dirty="0"/>
              <a:t>Steve Wolfe</a:t>
            </a:r>
            <a:endParaRPr lang="en-US"/>
          </a:p>
        </p:txBody>
      </p:sp>
    </p:spTree>
    <p:extLst>
      <p:ext uri="{BB962C8B-B14F-4D97-AF65-F5344CB8AC3E}">
        <p14:creationId xmlns:p14="http://schemas.microsoft.com/office/powerpoint/2010/main" val="10898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17C85-98A9-478E-9E94-45DBBC545857}"/>
              </a:ext>
            </a:extLst>
          </p:cNvPr>
          <p:cNvSpPr>
            <a:spLocks noGrp="1"/>
          </p:cNvSpPr>
          <p:nvPr>
            <p:ph type="title"/>
          </p:nvPr>
        </p:nvSpPr>
        <p:spPr>
          <a:xfrm>
            <a:off x="685801" y="533400"/>
            <a:ext cx="10820400" cy="1177092"/>
          </a:xfrm>
        </p:spPr>
        <p:txBody>
          <a:bodyPr anchor="b">
            <a:normAutofit/>
          </a:bodyPr>
          <a:lstStyle/>
          <a:p>
            <a:pPr algn="ctr"/>
            <a:r>
              <a:rPr lang="en-US" sz="4400"/>
              <a:t>Executive summary</a:t>
            </a:r>
          </a:p>
        </p:txBody>
      </p:sp>
      <p:sp>
        <p:nvSpPr>
          <p:cNvPr id="3" name="Content Placeholder 2">
            <a:extLst>
              <a:ext uri="{FF2B5EF4-FFF2-40B4-BE49-F238E27FC236}">
                <a16:creationId xmlns:a16="http://schemas.microsoft.com/office/drawing/2014/main" id="{8C8A16AE-A841-4912-9A96-0AC65D319C5D}"/>
              </a:ext>
            </a:extLst>
          </p:cNvPr>
          <p:cNvSpPr>
            <a:spLocks noGrp="1"/>
          </p:cNvSpPr>
          <p:nvPr>
            <p:ph idx="1"/>
          </p:nvPr>
        </p:nvSpPr>
        <p:spPr>
          <a:xfrm>
            <a:off x="685801" y="2243892"/>
            <a:ext cx="10820400" cy="3547308"/>
          </a:xfrm>
        </p:spPr>
        <p:txBody>
          <a:bodyPr anchor="t">
            <a:normAutofit/>
          </a:bodyPr>
          <a:lstStyle/>
          <a:p>
            <a:pPr>
              <a:lnSpc>
                <a:spcPct val="90000"/>
              </a:lnSpc>
            </a:pPr>
            <a:r>
              <a:rPr lang="en-US" sz="1400"/>
              <a:t>The provided dataset is during a 92 consecutive day timeframe between 10/25/2019 and 1/24/2020</a:t>
            </a:r>
            <a:br>
              <a:rPr lang="en-US" sz="1400"/>
            </a:br>
            <a:endParaRPr lang="en-US" sz="1400"/>
          </a:p>
          <a:p>
            <a:pPr>
              <a:lnSpc>
                <a:spcPct val="90000"/>
              </a:lnSpc>
            </a:pPr>
            <a:r>
              <a:rPr lang="en-US" sz="1400"/>
              <a:t>Conversion Rate (“Percentage Purchased”) is defined as an aggregation of “Purchased within 7 Days” / “Audience” by path grouping</a:t>
            </a:r>
            <a:br>
              <a:rPr lang="en-US" sz="1400"/>
            </a:br>
            <a:endParaRPr lang="en-US" sz="1400"/>
          </a:p>
          <a:p>
            <a:pPr>
              <a:lnSpc>
                <a:spcPct val="90000"/>
              </a:lnSpc>
            </a:pPr>
            <a:r>
              <a:rPr lang="en-US" sz="1400"/>
              <a:t>When viewing at “Critical Path” only, there are 16 unique combinations. The highest “Percentage Purchased” (~38%) for “Purchased within 7 Days” comes from the combination:</a:t>
            </a:r>
          </a:p>
          <a:p>
            <a:pPr lvl="1">
              <a:lnSpc>
                <a:spcPct val="90000"/>
              </a:lnSpc>
            </a:pPr>
            <a:r>
              <a:rPr lang="en-US" sz="1400" b="1"/>
              <a:t>Has Not Shopped / Has Started Project / Has Added to Cart / Has Not Checked Out</a:t>
            </a:r>
            <a:br>
              <a:rPr lang="en-US" sz="1400"/>
            </a:br>
            <a:endParaRPr lang="en-US" sz="1400"/>
          </a:p>
          <a:p>
            <a:pPr>
              <a:lnSpc>
                <a:spcPct val="90000"/>
              </a:lnSpc>
            </a:pPr>
            <a:r>
              <a:rPr lang="en-US" sz="1400"/>
              <a:t>When viewing all flags, there are 1,111 unique combinations. The highest “Percentage Purchased” (~79%) comes from the combination:</a:t>
            </a:r>
          </a:p>
          <a:p>
            <a:pPr lvl="1">
              <a:lnSpc>
                <a:spcPct val="90000"/>
              </a:lnSpc>
            </a:pPr>
            <a:r>
              <a:rPr lang="en-US" sz="1400" b="1"/>
              <a:t>Has Shopped / Has Started Project / Has Added to Cart / Has Not Checked Out / Has Uploaded Photos / Has Visited on Previous Day / Has 4 Different Products / Has 3 Number of Platforms</a:t>
            </a:r>
            <a:br>
              <a:rPr lang="en-US" sz="1400"/>
            </a:br>
            <a:endParaRPr lang="en-US" sz="1400"/>
          </a:p>
          <a:p>
            <a:pPr>
              <a:lnSpc>
                <a:spcPct val="90000"/>
              </a:lnSpc>
            </a:pPr>
            <a:r>
              <a:rPr lang="en-US" sz="1400"/>
              <a:t>Looking at a multi-variate analysis, the largest correlation to “Purchased within 7 Days” is “Audience” (~84%)</a:t>
            </a:r>
          </a:p>
          <a:p>
            <a:pPr>
              <a:lnSpc>
                <a:spcPct val="90000"/>
              </a:lnSpc>
            </a:pPr>
            <a:endParaRPr lang="en-US" sz="1400"/>
          </a:p>
        </p:txBody>
      </p:sp>
    </p:spTree>
    <p:extLst>
      <p:ext uri="{BB962C8B-B14F-4D97-AF65-F5344CB8AC3E}">
        <p14:creationId xmlns:p14="http://schemas.microsoft.com/office/powerpoint/2010/main" val="1596040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hart, bar chart&#10;&#10;Description automatically generated">
            <a:extLst>
              <a:ext uri="{FF2B5EF4-FFF2-40B4-BE49-F238E27FC236}">
                <a16:creationId xmlns:a16="http://schemas.microsoft.com/office/drawing/2014/main" id="{74146A39-4EA5-4500-A325-08C5597BA8B1}"/>
              </a:ext>
            </a:extLst>
          </p:cNvPr>
          <p:cNvPicPr>
            <a:picLocks noGrp="1" noChangeAspect="1"/>
          </p:cNvPicPr>
          <p:nvPr>
            <p:ph idx="1"/>
          </p:nvPr>
        </p:nvPicPr>
        <p:blipFill rotWithShape="1">
          <a:blip r:embed="rId2"/>
          <a:srcRect l="7545" t="7457" r="9279" b="4966"/>
          <a:stretch/>
        </p:blipFill>
        <p:spPr>
          <a:xfrm>
            <a:off x="156518" y="145169"/>
            <a:ext cx="6071287" cy="3196282"/>
          </a:xfrm>
        </p:spPr>
      </p:pic>
      <p:pic>
        <p:nvPicPr>
          <p:cNvPr id="9" name="Picture 8" descr="Background pattern&#10;&#10;Description automatically generated">
            <a:extLst>
              <a:ext uri="{FF2B5EF4-FFF2-40B4-BE49-F238E27FC236}">
                <a16:creationId xmlns:a16="http://schemas.microsoft.com/office/drawing/2014/main" id="{83BE3F5C-BD54-488D-8933-425511FC0835}"/>
              </a:ext>
            </a:extLst>
          </p:cNvPr>
          <p:cNvPicPr>
            <a:picLocks noChangeAspect="1"/>
          </p:cNvPicPr>
          <p:nvPr/>
        </p:nvPicPr>
        <p:blipFill rotWithShape="1">
          <a:blip r:embed="rId3"/>
          <a:srcRect l="7739" t="10026" r="9601" b="7474"/>
          <a:stretch/>
        </p:blipFill>
        <p:spPr>
          <a:xfrm>
            <a:off x="156518" y="3516550"/>
            <a:ext cx="6071287" cy="3196282"/>
          </a:xfrm>
          <a:prstGeom prst="rect">
            <a:avLst/>
          </a:prstGeom>
        </p:spPr>
      </p:pic>
      <p:pic>
        <p:nvPicPr>
          <p:cNvPr id="11" name="Picture 10" descr="A picture containing timeline&#10;&#10;Description automatically generated">
            <a:extLst>
              <a:ext uri="{FF2B5EF4-FFF2-40B4-BE49-F238E27FC236}">
                <a16:creationId xmlns:a16="http://schemas.microsoft.com/office/drawing/2014/main" id="{6980AD3E-BCB0-4CF4-A3A5-BFEF6075EE72}"/>
              </a:ext>
            </a:extLst>
          </p:cNvPr>
          <p:cNvPicPr>
            <a:picLocks noChangeAspect="1"/>
          </p:cNvPicPr>
          <p:nvPr/>
        </p:nvPicPr>
        <p:blipFill rotWithShape="1">
          <a:blip r:embed="rId4"/>
          <a:srcRect t="10780" r="13924"/>
          <a:stretch/>
        </p:blipFill>
        <p:spPr>
          <a:xfrm>
            <a:off x="6288932" y="369651"/>
            <a:ext cx="5903068" cy="6118698"/>
          </a:xfrm>
          <a:prstGeom prst="rect">
            <a:avLst/>
          </a:prstGeom>
        </p:spPr>
      </p:pic>
    </p:spTree>
    <p:extLst>
      <p:ext uri="{BB962C8B-B14F-4D97-AF65-F5344CB8AC3E}">
        <p14:creationId xmlns:p14="http://schemas.microsoft.com/office/powerpoint/2010/main" val="1207759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6A389-C6CD-4CD8-ABC0-81E0019C7C9D}"/>
              </a:ext>
            </a:extLst>
          </p:cNvPr>
          <p:cNvSpPr>
            <a:spLocks noGrp="1"/>
          </p:cNvSpPr>
          <p:nvPr>
            <p:ph type="title"/>
          </p:nvPr>
        </p:nvSpPr>
        <p:spPr>
          <a:xfrm>
            <a:off x="685801" y="533400"/>
            <a:ext cx="10820400" cy="1177092"/>
          </a:xfrm>
        </p:spPr>
        <p:txBody>
          <a:bodyPr anchor="b">
            <a:normAutofit/>
          </a:bodyPr>
          <a:lstStyle/>
          <a:p>
            <a:pPr algn="ctr"/>
            <a:r>
              <a:rPr lang="en-US" sz="4400" dirty="0"/>
              <a:t>Further follow-ups</a:t>
            </a:r>
          </a:p>
        </p:txBody>
      </p:sp>
      <p:sp>
        <p:nvSpPr>
          <p:cNvPr id="3" name="Content Placeholder 2">
            <a:extLst>
              <a:ext uri="{FF2B5EF4-FFF2-40B4-BE49-F238E27FC236}">
                <a16:creationId xmlns:a16="http://schemas.microsoft.com/office/drawing/2014/main" id="{AAF68806-69CD-4A0C-BB7E-79886139FFDA}"/>
              </a:ext>
            </a:extLst>
          </p:cNvPr>
          <p:cNvSpPr>
            <a:spLocks noGrp="1"/>
          </p:cNvSpPr>
          <p:nvPr>
            <p:ph idx="1"/>
          </p:nvPr>
        </p:nvSpPr>
        <p:spPr>
          <a:xfrm>
            <a:off x="685801" y="2243892"/>
            <a:ext cx="10820400" cy="4346378"/>
          </a:xfrm>
        </p:spPr>
        <p:txBody>
          <a:bodyPr anchor="t">
            <a:normAutofit/>
          </a:bodyPr>
          <a:lstStyle/>
          <a:p>
            <a:pPr>
              <a:lnSpc>
                <a:spcPct val="90000"/>
              </a:lnSpc>
            </a:pPr>
            <a:r>
              <a:rPr lang="en-US" sz="1300" dirty="0"/>
              <a:t>Other Data Needed</a:t>
            </a:r>
          </a:p>
          <a:p>
            <a:pPr lvl="1">
              <a:lnSpc>
                <a:spcPct val="90000"/>
              </a:lnSpc>
            </a:pPr>
            <a:r>
              <a:rPr lang="en-US" sz="1300" dirty="0"/>
              <a:t>I would really like to better understand user tracking within the website / applications.</a:t>
            </a:r>
          </a:p>
          <a:p>
            <a:pPr lvl="1">
              <a:lnSpc>
                <a:spcPct val="90000"/>
              </a:lnSpc>
            </a:pPr>
            <a:r>
              <a:rPr lang="en-US" sz="1300" dirty="0"/>
              <a:t>Since this data only counts the total number of unique people who purchased, it would be valuable to also track quantities of products? Is one more important than the other? This data would be valuable in tracking down which types of people are more likely to purchase what product, depending on where in the process they’ve been.</a:t>
            </a:r>
          </a:p>
          <a:p>
            <a:pPr lvl="1">
              <a:lnSpc>
                <a:spcPct val="90000"/>
              </a:lnSpc>
            </a:pPr>
            <a:r>
              <a:rPr lang="en-US" sz="1300" dirty="0"/>
              <a:t>What actions are going to be done with this data? Knowing the audience, and what actions they’re going to perform with the analysis would help me understand what kind of data visualizations would be best to tell the story. The ones I chose were basic to understanding the dataset.</a:t>
            </a:r>
          </a:p>
          <a:p>
            <a:pPr lvl="1">
              <a:lnSpc>
                <a:spcPct val="90000"/>
              </a:lnSpc>
            </a:pPr>
            <a:r>
              <a:rPr lang="en-US" sz="1300" dirty="0"/>
              <a:t>Having this data at the end user level, and tracking it by day, would create a much more powerful story. I would be able to analyze how many days it was since they visited that they ended up purchasing, along with how many site visits it takes to convert to a purchase. When looking at larger aggregation values, all that data is confounded into the large sums.</a:t>
            </a:r>
          </a:p>
          <a:p>
            <a:pPr>
              <a:lnSpc>
                <a:spcPct val="90000"/>
              </a:lnSpc>
            </a:pPr>
            <a:r>
              <a:rPr lang="en-US" sz="1300" dirty="0"/>
              <a:t>Other Information</a:t>
            </a:r>
          </a:p>
          <a:p>
            <a:pPr lvl="1">
              <a:lnSpc>
                <a:spcPct val="90000"/>
              </a:lnSpc>
            </a:pPr>
            <a:r>
              <a:rPr lang="en-US" sz="1300" dirty="0"/>
              <a:t>I did most of the analysis in Python. However, I’ve also included partial analysis in both Excel and PowerBI. I just wanted to demonstrate that similar outputs could be achieved in a multitude of tools.</a:t>
            </a:r>
          </a:p>
          <a:p>
            <a:pPr lvl="1">
              <a:lnSpc>
                <a:spcPct val="90000"/>
              </a:lnSpc>
            </a:pPr>
            <a:r>
              <a:rPr lang="en-US" sz="1300" dirty="0"/>
              <a:t>I’m not sure what decimal requirements are used at </a:t>
            </a:r>
            <a:r>
              <a:rPr lang="en-US" sz="1300" dirty="0" err="1"/>
              <a:t>Shuttefly</a:t>
            </a:r>
            <a:r>
              <a:rPr lang="en-US" sz="1300" dirty="0"/>
              <a:t>, but I left at largest presentable values. I would typically use a max of 1 point in analysis, though.</a:t>
            </a:r>
          </a:p>
          <a:p>
            <a:pPr lvl="1">
              <a:lnSpc>
                <a:spcPct val="90000"/>
              </a:lnSpc>
            </a:pPr>
            <a:r>
              <a:rPr lang="en-US" sz="1300" dirty="0"/>
              <a:t>For the “Full Path” visual, it’s limited to the top 25 rows by “Purchased within 7 Days” for all combinations. Also, it’s only looking at combinations that occurred at least 75% of the count of unique days to remove special cause rows. This is better commented in the Python code.</a:t>
            </a:r>
          </a:p>
        </p:txBody>
      </p:sp>
    </p:spTree>
    <p:extLst>
      <p:ext uri="{BB962C8B-B14F-4D97-AF65-F5344CB8AC3E}">
        <p14:creationId xmlns:p14="http://schemas.microsoft.com/office/powerpoint/2010/main" val="10612834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38</TotalTime>
  <Words>531</Words>
  <Application>Microsoft Office PowerPoint</Application>
  <PresentationFormat>Widescreen</PresentationFormat>
  <Paragraphs>20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Celestial</vt:lpstr>
      <vt:lpstr>Shutterfly data analysis</vt:lpstr>
      <vt:lpstr>Executive summary</vt:lpstr>
      <vt:lpstr>PowerPoint Presentation</vt:lpstr>
      <vt:lpstr>Further follow-ups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Shutterfly data analysis</dc:title>
  <dc:creator>Wolfe, Steve</dc:creator>
  <cp:lastModifiedBy>Wolfe, Steve</cp:lastModifiedBy>
  <cp:revision>5</cp:revision>
  <dcterms:created xsi:type="dcterms:W3CDTF">2021-08-13T13:49:10Z</dcterms:created>
  <dcterms:modified xsi:type="dcterms:W3CDTF">2021-08-13T14:27:41Z</dcterms:modified>
</cp:coreProperties>
</file>